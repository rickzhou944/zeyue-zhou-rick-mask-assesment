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A3C53-6C08-56D2-DD58-A3BAC4DEE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0C704D-0446-C9E6-65DF-1634C1491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D05C9A-709E-1E62-2FFC-4829C0BE9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095F5A-7498-2371-ABC4-750A65B1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7E3DC-17C9-4A96-66DA-EF94AE5A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5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1B90B-C18F-8A53-E3B5-CF590994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053E3-1334-E646-B6BF-213330BA8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653D9E-4EBE-BE15-C052-D707537BB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3A5E23-A488-5FD6-EBF6-CA0A5A6A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8FB0A-45A7-0049-5C6B-59D87EE0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46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F05D9-0CC1-22B8-1E13-980F3CBD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C6D764-F775-5F70-EBBD-174F76608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45B7AB-8389-B3C8-593C-1362CFBA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38B6D-A8D6-8596-FF82-B3E823AC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3B17A4-95E8-FA42-340B-1E92C089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1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F3B92-DBBC-03B4-0A0C-B800696F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83B3FF-88CC-9CA3-CFD4-413431D63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C778FA-AE7F-372C-80AD-C434B57B1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1961DB-BEDE-4BE5-B27F-F4978C7C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84BE2E-42AD-8D8B-A5ED-5664A95E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805751-2E93-39C0-F300-03B60333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66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D804F-F15F-F1D2-F02A-BE88F319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FA0DBA-060B-B6EE-518E-1DC9903D8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00C18F-B2A6-9B5B-E9CD-9E28643A3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FEFCF4-703F-33AA-C8AE-A7D000A29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2EF80E-20D6-EB86-DF42-56D571B39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C1B66A-59A6-1E87-A7BB-8B8246F5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5480E0-EE35-1086-EE66-E6CA5FCA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6E552D-C432-9C54-F86C-17F3A21F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76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F7145-CDFB-54EA-5F19-168373F3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9B3E15-19E3-4E83-0EC7-1952FF9BD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61A536-86CE-4A7C-8C9D-FDB121F5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CCF9D5-353A-727D-6FBF-70499F41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754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5B96C5-FEED-F4F2-11FA-B927EC67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2F5776-16A5-EEC3-2A48-8459D498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B3602-73EA-A9E7-1435-177B89EB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68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74914-605E-0DDF-6CE4-4641633B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24F8B-1F83-479E-586C-F964CF631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728156-61AA-F381-909A-5CE259DEE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023E07-A1BC-E7AC-88FE-F5AD5156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F0DF09-C993-6AF8-1F67-7681CFD4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2B5CC5-8E76-021A-3FF2-0C56A50A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44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CE620-B84E-D207-4C1E-C6D3725E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FC42C5-5EA3-94DC-1A54-5494FF5FB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C5BDC-0B9D-FFAC-BF7C-1F0DFA399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41526A-9513-CA68-F558-5033F2E9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95515E-C3DA-EA7B-6FCE-D8E8DF2E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99391E-52F8-3476-ADA9-30A1969B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51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4070B-F104-7274-5C9B-C3104CDE3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C469EC-9966-959D-FF67-C8C8BE3CC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5A605-6BF8-780A-A67F-6F852830E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161663-33A7-D976-6130-2158EB3B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ADD3B4-CB0C-0621-C034-61CCED7C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06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AF0330-24C5-8672-577F-00169FE4E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015A61-68C6-EB7F-9116-5F181B03D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6C3338-6612-5190-60A8-56EBCA6B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722608-D949-B8A7-7B69-97B4145B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93F1E6-3D9A-D690-6812-41A0BA7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04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6ECB8B-AF6D-C268-D866-E8BC1271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405E07-5B55-A63C-B547-1B1EC075E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E8782D-807B-A31D-548F-76167B499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387A6-0DF2-47A4-9E5F-C8852C8E22B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F0DAE7-C2CB-93B1-5771-C93EE0CEF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589184-5A27-D7AB-10F0-8EA6E49DB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C791F-4F7F-4B8A-A6D9-3C70222B05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514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hyperlink" Target="https://jaf765.medium.com/a-look-into-tim-burtons-creative-process-dc36bb2cfbfb" TargetMode="External"/><Relationship Id="rId7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imereads.com/vintage-horror-illustrations/" TargetMode="External"/><Relationship Id="rId5" Type="http://schemas.openxmlformats.org/officeDocument/2006/relationships/hyperlink" Target="https://boredpanda.com/illustration-80s-cartoons-horror-movies-crossovers-franks-kid-part-2/" TargetMode="External"/><Relationship Id="rId4" Type="http://schemas.openxmlformats.org/officeDocument/2006/relationships/hyperlink" Target="https://www.studiobinder.com/blog/tim-burton-style-analysis/" TargetMode="External"/><Relationship Id="rId9" Type="http://schemas.openxmlformats.org/officeDocument/2006/relationships/hyperlink" Target="https://www.boredpanda.com/illustration-80s-cartoons-horror-movies-crossovers-franks-kid-part-2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1B049-17E7-30B3-5CA2-B36DADBD97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Goose </a:t>
            </a:r>
            <a:r>
              <a:rPr lang="en-US" altLang="zh-CN" dirty="0" err="1"/>
              <a:t>Goose</a:t>
            </a:r>
            <a:r>
              <a:rPr lang="en-US" altLang="zh-CN" dirty="0"/>
              <a:t> Duck Mask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812A2B-27FB-9F57-44E7-C2D9CF16A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Rick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5462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DCD0FE5-12AD-78A1-2B56-FE9B3413AE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58"/>
          <a:stretch>
            <a:fillRect/>
          </a:stretch>
        </p:blipFill>
        <p:spPr>
          <a:xfrm>
            <a:off x="5200189" y="194794"/>
            <a:ext cx="2802346" cy="160173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6990F80-B7B8-6104-6092-705EFFD1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02346" cy="1325563"/>
          </a:xfrm>
        </p:spPr>
        <p:txBody>
          <a:bodyPr>
            <a:normAutofit fontScale="90000"/>
          </a:bodyPr>
          <a:lstStyle/>
          <a:p>
            <a:r>
              <a:rPr lang="en-US" altLang="zh-CN" sz="5400" b="1" dirty="0"/>
              <a:t>Reference</a:t>
            </a:r>
            <a:endParaRPr lang="zh-CN" altLang="en-US" sz="54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74DD18-D132-2414-FBB9-170BA5291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2169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1600" b="1" dirty="0">
                <a:latin typeface="MS PGothic" panose="020B0600070205080204" pitchFamily="34" charset="-128"/>
                <a:ea typeface="MS PGothic" panose="020B0600070205080204" pitchFamily="34" charset="-128"/>
              </a:rPr>
              <a:t>1. Visual Style: Tim Burton Influence</a:t>
            </a:r>
          </a:p>
          <a:p>
            <a:pPr marL="0" indent="0">
              <a:buNone/>
            </a:pPr>
            <a:r>
              <a:rPr lang="en-US" altLang="zh-CN" sz="1600" dirty="0">
                <a:latin typeface="MS PGothic" panose="020B0600070205080204" pitchFamily="34" charset="-128"/>
                <a:ea typeface="MS PGothic" panose="020B0600070205080204" pitchFamily="34" charset="-128"/>
              </a:rPr>
              <a:t>Tim Burton's works have inspired me in the exaggerated proportions, dark-toned base and expressive forms in my designs. Tim Burton's characters often blend innocence with the bizarre, which aligns with the anxious yet hopeful nature of the characters I design. </a:t>
            </a:r>
          </a:p>
          <a:p>
            <a:pPr marL="0" indent="0">
              <a:buNone/>
            </a:pPr>
            <a:r>
              <a:rPr lang="en-US" altLang="zh-CN" sz="1600" dirty="0">
                <a:latin typeface="MS PGothic" panose="020B0600070205080204" pitchFamily="34" charset="-128"/>
                <a:ea typeface="MS PGothic" panose="020B0600070205080204" pitchFamily="34" charset="-128"/>
              </a:rPr>
              <a:t>Reference materials:</a:t>
            </a:r>
          </a:p>
          <a:p>
            <a:pPr marL="0" indent="0">
              <a:lnSpc>
                <a:spcPct val="20000"/>
              </a:lnSpc>
              <a:buNone/>
            </a:pPr>
            <a:r>
              <a:rPr lang="en-US" altLang="zh-CN" sz="1050" dirty="0"/>
              <a:t>• </a:t>
            </a:r>
            <a:r>
              <a:rPr lang="en-US" altLang="zh-CN" sz="1050" dirty="0">
                <a:hlinkClick r:id="rId3"/>
              </a:rPr>
              <a:t>https://jaf765.medium.com/a-look-into-tim-burtons-creative-process-dc36bb2cfbfb</a:t>
            </a:r>
            <a:endParaRPr lang="en-US" altLang="zh-CN" sz="1050" dirty="0"/>
          </a:p>
          <a:p>
            <a:pPr marL="0" indent="0">
              <a:lnSpc>
                <a:spcPct val="20000"/>
              </a:lnSpc>
              <a:buNone/>
            </a:pPr>
            <a:r>
              <a:rPr lang="en-US" altLang="zh-CN" sz="1050" dirty="0"/>
              <a:t>• </a:t>
            </a:r>
            <a:r>
              <a:rPr lang="en-US" altLang="zh-CN" sz="1050" dirty="0">
                <a:hlinkClick r:id="rId4"/>
              </a:rPr>
              <a:t>https://www.studiobinder.com/blog/tim-burton-style-analysis/</a:t>
            </a:r>
            <a:endParaRPr lang="en-US" altLang="zh-CN" sz="1050" dirty="0"/>
          </a:p>
          <a:p>
            <a:pPr marL="0" indent="0">
              <a:lnSpc>
                <a:spcPct val="20000"/>
              </a:lnSpc>
              <a:buNone/>
            </a:pPr>
            <a:endParaRPr lang="en-US" altLang="zh-CN" sz="105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lnSpc>
                <a:spcPct val="20000"/>
              </a:lnSpc>
              <a:buNone/>
            </a:pPr>
            <a:r>
              <a:rPr lang="en-US" altLang="zh-CN" sz="1600" b="1" dirty="0"/>
              <a:t>2. Retro Horror Cartoon</a:t>
            </a:r>
          </a:p>
          <a:p>
            <a:pPr marL="0" indent="0">
              <a:lnSpc>
                <a:spcPct val="20000"/>
              </a:lnSpc>
              <a:buNone/>
            </a:pPr>
            <a:endParaRPr lang="en-US" altLang="zh-CN" sz="1600" b="1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MS PGothic" panose="020B0600070205080204" pitchFamily="34" charset="-128"/>
                <a:ea typeface="MS PGothic" panose="020B0600070205080204" pitchFamily="34" charset="-128"/>
              </a:rPr>
              <a:t>The "retro horror cartoon" style sets the tone for Kork: humorous yet unsettling. The old ink texture, poster-like aging effect, and interesting distorted elements are combined, making him both retro and horror.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MS PGothic" panose="020B0600070205080204" pitchFamily="34" charset="-128"/>
                <a:ea typeface="MS PGothic" panose="020B0600070205080204" pitchFamily="34" charset="-128"/>
              </a:rPr>
              <a:t>Reference materials: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050" dirty="0"/>
              <a:t>• </a:t>
            </a:r>
            <a:r>
              <a:rPr lang="en-US" altLang="zh-CN" sz="1050" dirty="0">
                <a:hlinkClick r:id="rId5"/>
              </a:rPr>
              <a:t>https://boredpanda.com/illustration-80s-cartoons-horror-movies-crossovers-franks-kid-part-2/</a:t>
            </a:r>
            <a:endParaRPr lang="en-US" altLang="zh-CN" sz="1050" dirty="0"/>
          </a:p>
          <a:p>
            <a:pPr marL="0" indent="0" defTabSz="540000">
              <a:lnSpc>
                <a:spcPts val="20"/>
              </a:lnSpc>
              <a:buNone/>
            </a:pPr>
            <a:r>
              <a:rPr lang="en-US" altLang="zh-CN" sz="1050" dirty="0"/>
              <a:t>• </a:t>
            </a:r>
            <a:r>
              <a:rPr lang="en-US" altLang="zh-CN" sz="1050" dirty="0">
                <a:hlinkClick r:id="rId6"/>
              </a:rPr>
              <a:t>https://crimereads.com/vintage-horror-illustrations/</a:t>
            </a:r>
            <a:endParaRPr lang="en-US" altLang="zh-CN" sz="1050" dirty="0"/>
          </a:p>
          <a:p>
            <a:pPr marL="0" indent="0">
              <a:buNone/>
            </a:pPr>
            <a:r>
              <a:rPr lang="en-US" altLang="zh-CN" sz="1600" b="1" dirty="0">
                <a:latin typeface="MS PGothic" panose="020B0600070205080204" pitchFamily="34" charset="-128"/>
                <a:ea typeface="MS PGothic" panose="020B0600070205080204" pitchFamily="34" charset="-128"/>
              </a:rPr>
              <a:t>3. Symbolism &amp; Character Core</a:t>
            </a:r>
          </a:p>
          <a:p>
            <a:pPr marL="0" indent="0">
              <a:buNone/>
            </a:pPr>
            <a:r>
              <a:rPr lang="en-US" altLang="zh-CN" sz="1600" dirty="0"/>
              <a:t>The frog mask symbolizes disguise and denial, while the rabbit underneath represents vulnerability.</a:t>
            </a:r>
            <a:endParaRPr lang="zh-CN" alt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16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6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16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80BF1B-074E-76B0-A118-1AA20978DF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777" y="540043"/>
            <a:ext cx="2436227" cy="24362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949112-1359-7E83-4443-2A0D192D03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170" y="4354428"/>
            <a:ext cx="2043464" cy="20434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7113823-E79D-5C75-861A-BEB98BEC3C19}"/>
              </a:ext>
            </a:extLst>
          </p:cNvPr>
          <p:cNvSpPr txBox="1"/>
          <p:nvPr/>
        </p:nvSpPr>
        <p:spPr>
          <a:xfrm>
            <a:off x="5200189" y="1767431"/>
            <a:ext cx="29932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hlinkClick r:id="rId3"/>
              </a:rPr>
              <a:t>A Look Into Tim Burton’s Creative Process | by Julia Fernandez | Medium</a:t>
            </a:r>
            <a:endParaRPr lang="zh-CN" altLang="en-US" sz="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40F881-D299-4556-A198-D18E6FB07410}"/>
              </a:ext>
            </a:extLst>
          </p:cNvPr>
          <p:cNvSpPr txBox="1"/>
          <p:nvPr/>
        </p:nvSpPr>
        <p:spPr>
          <a:xfrm>
            <a:off x="9150777" y="2976270"/>
            <a:ext cx="243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hlinkClick r:id="rId9"/>
              </a:rPr>
              <a:t>Childhood Cartoons Meet Horror: Artist’s Darkly Nostalgic Artwork Will Haunt Your Memories (32 Pics) | Bored Panda</a:t>
            </a:r>
            <a:endParaRPr lang="zh-CN" altLang="en-US" sz="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6EBE1A-908D-C60F-7CAE-5231DE0D8B4F}"/>
              </a:ext>
            </a:extLst>
          </p:cNvPr>
          <p:cNvSpPr txBox="1"/>
          <p:nvPr/>
        </p:nvSpPr>
        <p:spPr>
          <a:xfrm>
            <a:off x="9303177" y="6397892"/>
            <a:ext cx="243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>
                <a:hlinkClick r:id="rId9"/>
              </a:rPr>
              <a:t>Childhood Cartoons Meet Horror: Artist’s Darkly Nostalgic Artwork Will Haunt Your Memories (32 Pics) | Bored Panda</a:t>
            </a:r>
            <a:endParaRPr lang="zh-CN" altLang="en-US" sz="600" dirty="0"/>
          </a:p>
        </p:txBody>
      </p:sp>
    </p:spTree>
    <p:extLst>
      <p:ext uri="{BB962C8B-B14F-4D97-AF65-F5344CB8AC3E}">
        <p14:creationId xmlns:p14="http://schemas.microsoft.com/office/powerpoint/2010/main" val="238111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AEEE8-8769-21BC-D522-E258FD51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MS PGothic" panose="020B0600070205080204" pitchFamily="34" charset="-128"/>
                <a:ea typeface="MS PGothic" panose="020B0600070205080204" pitchFamily="34" charset="-128"/>
              </a:rPr>
              <a:t>Background Story</a:t>
            </a:r>
            <a:endParaRPr lang="zh-CN" altLang="en-US" b="1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B4A7EA-87B6-850A-5277-109DAF9E0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sz="3800" b="1" dirty="0">
                <a:solidFill>
                  <a:srgbClr val="FF0000"/>
                </a:solidFill>
              </a:rPr>
              <a:t>Kork</a:t>
            </a:r>
            <a:r>
              <a:rPr lang="en-US" altLang="zh-CN" b="1" dirty="0"/>
              <a:t> - a timid rabbit.</a:t>
            </a:r>
            <a:br>
              <a:rPr lang="en-US" altLang="zh-CN" dirty="0"/>
            </a:br>
            <a:r>
              <a:rPr lang="en-US" altLang="zh-CN" dirty="0"/>
              <a:t>He hates his long ears and hates when others see his fear.</a:t>
            </a:r>
            <a:br>
              <a:rPr lang="en-US" altLang="zh-CN" dirty="0"/>
            </a:br>
            <a:r>
              <a:rPr lang="en-US" altLang="zh-CN" dirty="0"/>
              <a:t>In the forest, rabbits are always the ones who run away,</a:t>
            </a:r>
            <a:br>
              <a:rPr lang="en-US" altLang="zh-CN" dirty="0"/>
            </a:br>
            <a:r>
              <a:rPr lang="en-US" altLang="zh-CN" dirty="0"/>
              <a:t>while frogs can croak loudly, unafraid of any gaze.</a:t>
            </a:r>
          </a:p>
          <a:p>
            <a:r>
              <a:rPr lang="en-US" altLang="zh-CN" dirty="0"/>
              <a:t>One day, Kork made a frog mask.</a:t>
            </a:r>
            <a:br>
              <a:rPr lang="en-US" altLang="zh-CN" dirty="0"/>
            </a:br>
            <a:r>
              <a:rPr lang="en-US" altLang="zh-CN" dirty="0"/>
              <a:t>He believed that as long as he wore it, no one would realize he was a rabbit.</a:t>
            </a:r>
            <a:br>
              <a:rPr lang="en-US" altLang="zh-CN" dirty="0"/>
            </a:br>
            <a:r>
              <a:rPr lang="en-US" altLang="zh-CN" dirty="0"/>
              <a:t>He started imitating the frogs’ croaks and their jumping posture.</a:t>
            </a:r>
          </a:p>
          <a:p>
            <a:r>
              <a:rPr lang="en-US" altLang="zh-CN" dirty="0"/>
              <a:t>As time went by, no one knew his true face anymore —</a:t>
            </a:r>
            <a:br>
              <a:rPr lang="en-US" altLang="zh-CN" dirty="0"/>
            </a:br>
            <a:r>
              <a:rPr lang="en-US" altLang="zh-CN" dirty="0"/>
              <a:t>even he was beginning to forget it himself.</a:t>
            </a:r>
            <a:br>
              <a:rPr lang="en-US" altLang="zh-CN" dirty="0"/>
            </a:br>
            <a:r>
              <a:rPr lang="en-US" altLang="zh-CN" dirty="0"/>
              <a:t>But at night, when everything was quiet,</a:t>
            </a:r>
            <a:br>
              <a:rPr lang="en-US" altLang="zh-CN" dirty="0"/>
            </a:br>
            <a:r>
              <a:rPr lang="en-US" altLang="zh-CN" dirty="0"/>
              <a:t>Kork would see his reflection in the water —</a:t>
            </a:r>
            <a:br>
              <a:rPr lang="en-US" altLang="zh-CN" dirty="0"/>
            </a:br>
            <a:r>
              <a:rPr lang="en-US" altLang="zh-CN" dirty="0"/>
              <a:t>a frog mask hiding a pair of frightened, sorrowful rabbit eyes.</a:t>
            </a:r>
          </a:p>
          <a:p>
            <a:r>
              <a:rPr lang="en-US" altLang="zh-CN" dirty="0"/>
              <a:t>He kept trying to act brave,</a:t>
            </a:r>
            <a:br>
              <a:rPr lang="en-US" altLang="zh-CN" dirty="0"/>
            </a:br>
            <a:r>
              <a:rPr lang="en-US" altLang="zh-CN" dirty="0"/>
              <a:t>but that mask had become his eternal cage.</a:t>
            </a:r>
          </a:p>
        </p:txBody>
      </p:sp>
    </p:spTree>
    <p:extLst>
      <p:ext uri="{BB962C8B-B14F-4D97-AF65-F5344CB8AC3E}">
        <p14:creationId xmlns:p14="http://schemas.microsoft.com/office/powerpoint/2010/main" val="3273887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8DC93C-E323-4AC3-CA10-D6585EC5D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Sketch of “</a:t>
            </a:r>
            <a:r>
              <a:rPr lang="en-US" altLang="zh-CN" dirty="0">
                <a:solidFill>
                  <a:srgbClr val="FF0000"/>
                </a:solidFill>
              </a:rPr>
              <a:t>Kork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19D42D-7216-8D8C-D886-4E0B1BEF3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074" y="1555729"/>
            <a:ext cx="3185255" cy="49371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59EC8D-46A6-C67A-E468-FA73FC40B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574" y="1508126"/>
            <a:ext cx="333375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2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CE00F-5FF0-9621-4FA5-A4DC6F80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 Product of “</a:t>
            </a:r>
            <a:r>
              <a:rPr lang="en-US" altLang="zh-CN" dirty="0">
                <a:solidFill>
                  <a:srgbClr val="FF0000"/>
                </a:solidFill>
              </a:rPr>
              <a:t>Kork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16F60C-86D9-AF12-331E-181FD70A14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112"/>
          <a:stretch>
            <a:fillRect/>
          </a:stretch>
        </p:blipFill>
        <p:spPr>
          <a:xfrm>
            <a:off x="1243282" y="1262698"/>
            <a:ext cx="4187886" cy="55953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172BC6-2DA2-A1D1-04D0-C5D274873F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0" r="21251" b="12883"/>
          <a:stretch>
            <a:fillRect/>
          </a:stretch>
        </p:blipFill>
        <p:spPr>
          <a:xfrm>
            <a:off x="6073032" y="1423996"/>
            <a:ext cx="4553589" cy="515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06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399</Words>
  <Application>Microsoft Office PowerPoint</Application>
  <PresentationFormat>宽屏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MS PGothic</vt:lpstr>
      <vt:lpstr>等线</vt:lpstr>
      <vt:lpstr>等线 Light</vt:lpstr>
      <vt:lpstr>Arial</vt:lpstr>
      <vt:lpstr>Office 主题​​</vt:lpstr>
      <vt:lpstr>Goose Goose Duck Mask</vt:lpstr>
      <vt:lpstr>Reference</vt:lpstr>
      <vt:lpstr>Background Story</vt:lpstr>
      <vt:lpstr>Sketch of “Kork”</vt:lpstr>
      <vt:lpstr>Final Product of “Kork”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梓涵 周</dc:creator>
  <cp:lastModifiedBy>梓涵 周</cp:lastModifiedBy>
  <cp:revision>1</cp:revision>
  <dcterms:created xsi:type="dcterms:W3CDTF">2025-11-10T06:36:52Z</dcterms:created>
  <dcterms:modified xsi:type="dcterms:W3CDTF">2025-11-10T09:48:46Z</dcterms:modified>
</cp:coreProperties>
</file>